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2" r:id="rId9"/>
    <p:sldId id="264" r:id="rId10"/>
    <p:sldId id="261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508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715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0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7A00"/>
                </a:solidFill>
              </a:rPr>
              <a:t>✤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4AAD"/>
                </a:solidFill>
              </a:rPr>
              <a:t>hapvida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Análise de Sinistralidade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Performance da Carteira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12648" y="26060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Produtos deficitários • eficiência regional • custo por vida • Coletivo x Individual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246120"/>
            <a:ext cx="3017520" cy="25603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004A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3296412"/>
            <a:ext cx="2871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4AAD"/>
                </a:solidFill>
              </a:rPr>
              <a:t>Prova Técnica • Analista de Dados Pleno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229600" y="960120"/>
            <a:ext cx="3154680" cy="46177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49640" y="12984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B5B"/>
                </a:solidFill>
              </a:rPr>
              <a:t>Objetivo da entrega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49640" y="1783080"/>
            <a:ext cx="24231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Traduzir indicadores em decisões de carteira
• Priorizar produtos com pressão financeira
• Comparar regiões e tipos de contrato
• Evidenciar tendência de custo médio por vida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549640" y="3977640"/>
            <a:ext cx="242316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AD"/>
                </a:solidFill>
              </a:rPr>
              <a:t>Entregáveis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49640" y="45537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Dashboard Power BI + apresentação executiva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da apresentação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Como a análise foi organizada para responder às perguntas da prova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737360"/>
            <a:ext cx="502920" cy="50292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56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242316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B5B"/>
                </a:solidFill>
              </a:rPr>
              <a:t>Indicadores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898648"/>
            <a:ext cx="16002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Fórmulas e conceitos usados para leitura financeira e assistencial.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16352" y="150876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80944" y="1737360"/>
            <a:ext cx="502920" cy="50292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1856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80944" y="242316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B5B"/>
                </a:solidFill>
              </a:rPr>
              <a:t>Diagnóstico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80944" y="2898648"/>
            <a:ext cx="16002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Produtos sob pressão financeira e critérios de déficit.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38344" y="150876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02936" y="1737360"/>
            <a:ext cx="502920" cy="50292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2936" y="1856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02936" y="242316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B5B"/>
                </a:solidFill>
              </a:rPr>
              <a:t>Comparações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02936" y="2898648"/>
            <a:ext cx="16002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Desempenho regional e Coletivo x Individual.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60336" y="150876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24928" y="1737360"/>
            <a:ext cx="502920" cy="50292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928" y="1856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24928" y="242316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B5B"/>
                </a:solidFill>
              </a:rPr>
              <a:t>Tendência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24928" y="2898648"/>
            <a:ext cx="16002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Aumento relevante do custo médio por vida ao longo do tempo.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82328" y="150876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646920" y="1737360"/>
            <a:ext cx="502920" cy="50292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1856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46920" y="242316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B5B"/>
                </a:solidFill>
              </a:rPr>
              <a:t>Decisão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46920" y="2898648"/>
            <a:ext cx="16002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Insights, cautelas e recomendações estratégicas.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AAD"/>
                </a:solidFill>
              </a:rPr>
              <a:t>A lógica da apresentação segue do “o que medimos” para o “que decisão tomar”.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Indicadores utilizados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Conceitos e fórmulas que sustentam a análise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7315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AAD"/>
                </a:solidFill>
              </a:rPr>
              <a:t>Indicador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600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AAD"/>
                </a:solidFill>
              </a:rPr>
              <a:t>Fórmula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3560" y="1600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AAD"/>
                </a:solidFill>
              </a:rPr>
              <a:t>Leitura de negócio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1801368"/>
            <a:ext cx="6629400" cy="0"/>
          </a:xfrm>
          <a:prstGeom prst="line">
            <a:avLst/>
          </a:prstGeom>
          <a:noFill/>
          <a:ln w="1016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65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02B5B"/>
                </a:solidFill>
              </a:rPr>
              <a:t>Receita média por vida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Receita ÷ Vidas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562356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Ticket médio por beneficiário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22960" y="2514600"/>
            <a:ext cx="6629400" cy="0"/>
          </a:xfrm>
          <a:prstGeom prst="line">
            <a:avLst/>
          </a:prstGeom>
          <a:noFill/>
          <a:ln w="1016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79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02B5B"/>
                </a:solidFill>
              </a:rPr>
              <a:t>Custo médio por vida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3291840" y="26791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Custo ÷ Vidas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5623560" y="2679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Pressão assistencial média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22960" y="3227832"/>
            <a:ext cx="6629400" cy="0"/>
          </a:xfrm>
          <a:prstGeom prst="line">
            <a:avLst/>
          </a:prstGeom>
          <a:noFill/>
          <a:ln w="10160">
            <a:solidFill>
              <a:srgbClr val="DD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92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02B5B"/>
                </a:solidFill>
              </a:rPr>
              <a:t>Sinistralidade (%)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3291840" y="33924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Custo ÷ Receita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5623560" y="3392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Quanto da receita foi consumida por custo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22960" y="3941064"/>
            <a:ext cx="6629400" cy="0"/>
          </a:xfrm>
          <a:prstGeom prst="line">
            <a:avLst/>
          </a:prstGeom>
          <a:noFill/>
          <a:ln w="10160">
            <a:solidFill>
              <a:srgbClr val="DD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105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02B5B"/>
                </a:solidFill>
              </a:rPr>
              <a:t>Margem operacional (%)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3291840" y="41056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(Receita − Custo) ÷ Receita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5623560" y="41056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Resultado operacional proporcional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22960" y="4654296"/>
            <a:ext cx="6629400" cy="0"/>
          </a:xfrm>
          <a:prstGeom prst="line">
            <a:avLst/>
          </a:prstGeom>
          <a:noFill/>
          <a:ln w="10160">
            <a:solidFill>
              <a:srgbClr val="DD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18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02B5B"/>
                </a:solidFill>
              </a:rPr>
              <a:t>Frequência de utilização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3291840" y="48188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Usuários ÷ Vidas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5623560" y="4818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Percentual de vidas que utilizaram o plano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366760" y="1325880"/>
            <a:ext cx="3108960" cy="4526280"/>
          </a:xfrm>
          <a:prstGeom prst="roundRect">
            <a:avLst>
              <a:gd name="adj" fmla="val 2353"/>
            </a:avLst>
          </a:prstGeom>
          <a:solidFill>
            <a:srgbClr val="FFF8EC"/>
          </a:solidFill>
          <a:ln w="12700">
            <a:solidFill>
              <a:srgbClr val="F8D7A6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4108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7A00"/>
                </a:solidFill>
              </a:rPr>
              <a:t>Regra de priorização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41080" y="2057400"/>
            <a:ext cx="24688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Deficitário: sinistralidade &gt; 100% e margem negativa
• Atenção: sinistralidade próxima de 90%–100%
• Baixa base: validar recorrência antes da decisão
• Comparações devem usar médias por vida, não só totais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final: </a:t>
            </a:r>
            <a:r>
              <a:rPr lang="en-US" sz="2500" b="1" dirty="0" err="1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visão</a:t>
            </a: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executiva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Página principal para leitura rápida da carteira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pic>
        <p:nvPicPr>
          <p:cNvPr id="6" name="Image 0" descr="/mnt/data/dashboard_vi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562"/>
            <a:ext cx="7040880" cy="50746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0" y="141732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8" name="Text 5"/>
          <p:cNvSpPr/>
          <p:nvPr/>
        </p:nvSpPr>
        <p:spPr>
          <a:xfrm>
            <a:off x="827532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B5B"/>
                </a:solidFill>
              </a:rPr>
              <a:t>O que esta página responde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75320" y="2148840"/>
            <a:ext cx="283464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r>
              <a:rPr lang="en-US" sz="1160" dirty="0">
                <a:solidFill>
                  <a:srgbClr val="1F2937"/>
                </a:solidFill>
              </a:rPr>
              <a:t>• Qual a situação geral da carteira no mês selecionado?
• Quais produtos estão sob pressão financeira?
• Quais regiões e tipos de contrato merecem atenção?
• Quais produtos crescem com sinistralidade elevada?</a:t>
            </a:r>
            <a:br>
              <a:rPr lang="en-US" sz="1160" dirty="0">
                <a:solidFill>
                  <a:srgbClr val="1F2937"/>
                </a:solidFill>
              </a:rPr>
            </a:br>
            <a:br>
              <a:rPr lang="en-US" sz="1160" dirty="0">
                <a:solidFill>
                  <a:srgbClr val="1F2937"/>
                </a:solidFill>
              </a:rPr>
            </a:br>
            <a:r>
              <a:rPr lang="en-US" sz="1200" b="1" dirty="0">
                <a:solidFill>
                  <a:srgbClr val="004AAD"/>
                </a:solidFill>
              </a:rPr>
              <a:t>Resposta à pergunta 2</a:t>
            </a:r>
            <a:endParaRPr lang="en-US" sz="1200" dirty="0"/>
          </a:p>
          <a:p>
            <a:r>
              <a:rPr lang="pt-BR" sz="1200" dirty="0"/>
              <a:t>Em produtos com baixo número de vidas, poucos eventos assistenciais podem distorcer a sinistralidade. Por isso, eu não tomaria decisão apenas pelo percentual isolado. Avaliaria volume de vidas, recorrência no tempo, custo médio por vida e concentração de procedimentos.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75320" y="4572000"/>
            <a:ext cx="278892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5320" y="48006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AD"/>
                </a:solidFill>
              </a:rPr>
              <a:t>Leitura-chave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75320" y="5102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F6B7A"/>
                </a:solidFill>
              </a:rPr>
              <a:t>A carteira possui margem positiva, mas há concentração de risco em produtos e regiões específicas.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Produtos sob pressão financeira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Critério: sinistralidade acima de 100% e margem operacional negativa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pic>
        <p:nvPicPr>
          <p:cNvPr id="6" name="Image 0" descr="/mnt/data/produtos_pres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6704"/>
            <a:ext cx="6217920" cy="32845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0" y="1417320"/>
            <a:ext cx="44348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0664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B5B"/>
                </a:solidFill>
              </a:rPr>
              <a:t>Exemplo de achados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06640" y="2148840"/>
            <a:ext cx="37490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2937"/>
                </a:solidFill>
              </a:rPr>
              <a:t>• Neste exemplo, PLATINUM ET é o produto mais crítico: sinistralidade muito acima de 100% e margem fortemente negativa.
• PREMIUM P e PREMIUM F também aparecem deficitários no mês selecionado.
• BENEFIT está próximo do limite e deve permanecer em acompanhamento.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7406640" y="4069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4AAD"/>
                </a:solidFill>
              </a:rPr>
              <a:t>Como interpretar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06640" y="43708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F6B7A"/>
                </a:solidFill>
              </a:rPr>
              <a:t>Um produto não deve ser avaliado só por sinistralidade: volume de vidas, custo médio e recorrência precisam entrar na decisão.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603504" y="120243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2F12A4D-5665-4BBB-96DD-ECDAA00ABA59}"/>
              </a:ext>
            </a:extLst>
          </p:cNvPr>
          <p:cNvSpPr/>
          <p:nvPr/>
        </p:nvSpPr>
        <p:spPr>
          <a:xfrm>
            <a:off x="685800" y="5018423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AAD"/>
                </a:solidFill>
              </a:rPr>
              <a:t>Resposta à pergunta 3</a:t>
            </a:r>
            <a:endParaRPr lang="en-US" sz="17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D7B4C749-1519-4494-B19C-409327FFA9D8}"/>
              </a:ext>
            </a:extLst>
          </p:cNvPr>
          <p:cNvSpPr/>
          <p:nvPr/>
        </p:nvSpPr>
        <p:spPr>
          <a:xfrm>
            <a:off x="685800" y="5420759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400" dirty="0"/>
              <a:t>Produto deficitário = sinistralidade acima de 100% e margem negativa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Comparações de desempenho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Regiões e tipos de contrato analisados com indicadores normalizados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pic>
        <p:nvPicPr>
          <p:cNvPr id="6" name="Image 0" descr="/mnt/data/regional_contra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1467"/>
            <a:ext cx="6720840" cy="16119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280160"/>
            <a:ext cx="37947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01000" y="1572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4AAD"/>
                </a:solidFill>
              </a:rPr>
              <a:t>Comparação regional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01000" y="1938528"/>
            <a:ext cx="3063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Receita e custo por vida evitam distorção por volume.
• Centro-Oeste aparece como ponto de atenção pela sinistralidade regional.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01000" y="29718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4AAD"/>
                </a:solidFill>
              </a:rPr>
              <a:t>Coletivo x Individual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01000" y="3319272"/>
            <a:ext cx="30632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Comparar sinistralidade, margem e frequência mostra perfis distintos de risco e rentabilidade.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3E4DA6E7-016F-4674-BC5F-69C5F8BB9462}"/>
              </a:ext>
            </a:extLst>
          </p:cNvPr>
          <p:cNvSpPr/>
          <p:nvPr/>
        </p:nvSpPr>
        <p:spPr>
          <a:xfrm>
            <a:off x="685800" y="40955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AAD"/>
                </a:solidFill>
              </a:rPr>
              <a:t>Resposta à pergunta 4 e 5</a:t>
            </a:r>
            <a:endParaRPr lang="en-US" sz="17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1565DEC5-7273-48EA-A910-4DC9CE2587F8}"/>
              </a:ext>
            </a:extLst>
          </p:cNvPr>
          <p:cNvSpPr/>
          <p:nvPr/>
        </p:nvSpPr>
        <p:spPr>
          <a:xfrm>
            <a:off x="685800" y="44978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sz="1400" dirty="0"/>
              <a:t>Comparação regional deve usar indicadores médios, não apenas totais absolutos.</a:t>
            </a:r>
            <a:br>
              <a:rPr lang="pt-BR" sz="1400" dirty="0"/>
            </a:br>
            <a:r>
              <a:rPr lang="pt-BR" sz="1400" dirty="0"/>
              <a:t>No período filtrado, o Centro-Oeste apresenta a maior sinistralidade regional, exigindo investigação por produto, cidade e utilização.</a:t>
            </a: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E17576A4-C703-4F69-ADB0-24C112FFCB99}"/>
              </a:ext>
            </a:extLst>
          </p:cNvPr>
          <p:cNvSpPr/>
          <p:nvPr/>
        </p:nvSpPr>
        <p:spPr>
          <a:xfrm>
            <a:off x="663787" y="5131409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pt-BR" sz="1400" dirty="0"/>
              <a:t>No comparativo, eu avaliaria sinistralidade, margem operacional, frequência de utilização, receita média por vida e custo médio por vida. No período selecionado, o Coletivo apresenta maior sinistralidade, enquanto o Individual apresenta maior margem e maior frequência de utilização.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</a:rPr>
              <a:t>Visão SQL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Query criada usando banco local para geração dos valores de exemplo.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7FDFFEA-689D-4C96-B387-A5B6A9E9B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98" y="2372206"/>
            <a:ext cx="6703334" cy="3185151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3DF4A508-7C86-4398-8E53-354895852F30}"/>
              </a:ext>
            </a:extLst>
          </p:cNvPr>
          <p:cNvSpPr/>
          <p:nvPr/>
        </p:nvSpPr>
        <p:spPr>
          <a:xfrm>
            <a:off x="512064" y="1166089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AAD"/>
                </a:solidFill>
              </a:rPr>
              <a:t>Resposta à pergunta 6</a:t>
            </a:r>
            <a:endParaRPr lang="en-US" sz="17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45E3CA1-FA1F-4FB1-8286-3388D4586F28}"/>
              </a:ext>
            </a:extLst>
          </p:cNvPr>
          <p:cNvSpPr/>
          <p:nvPr/>
        </p:nvSpPr>
        <p:spPr>
          <a:xfrm>
            <a:off x="512064" y="1568425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sz="1400" dirty="0"/>
              <a:t>O ponto principal é não calcular média das sinistralidades linha a linha. O correto é agrupar por período e produto, somar custo e receita, e só depois dividir.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073BDEE-5D3B-4B7B-BF0C-D8DB8EB3E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040" y="2372206"/>
            <a:ext cx="4363059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35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Aumento relevante de custo por vida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Monitoramento temporal com variação mensal e tendência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pic>
        <p:nvPicPr>
          <p:cNvPr id="6" name="Image 0" descr="/mnt/data/custo_tend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41912"/>
            <a:ext cx="7452360" cy="20311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0" y="123444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732520" y="1536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B5B"/>
                </a:solidFill>
              </a:rPr>
              <a:t>Critério analítico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732520" y="1938528"/>
            <a:ext cx="25146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• Comparar custo médio atual com mês anterior.
• Investigar picos acima de um limite definido pelo negócio.
• Separar aumento estrutural de evento pontual.</a:t>
            </a:r>
            <a:endParaRPr lang="en-US" sz="1110" dirty="0"/>
          </a:p>
        </p:txBody>
      </p:sp>
      <p:sp>
        <p:nvSpPr>
          <p:cNvPr id="10" name="Text 7"/>
          <p:cNvSpPr/>
          <p:nvPr/>
        </p:nvSpPr>
        <p:spPr>
          <a:xfrm>
            <a:off x="868680" y="48280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AAD"/>
                </a:solidFill>
              </a:rPr>
              <a:t>Resposta à pergunta 7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8680" y="5230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O aumento relevante é identificado quando o custo médio por vida cresce de forma consistente no tempo, supera a média móvel/histórica e se mantém acima do padrão esperado.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dimensional proposto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Estrutura para análise escalável dos indicadores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3FF"/>
                </a:solidFill>
              </a:rPr>
              <a:t>Vidas • Receita • Custo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AF3FF"/>
                </a:solidFill>
              </a:rPr>
              <a:t>Usuários • Procedimentos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FB548401-4E88-4932-A604-23EEB222E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47" y="1630343"/>
            <a:ext cx="9170006" cy="4461256"/>
          </a:xfrm>
          <a:prstGeom prst="rect">
            <a:avLst/>
          </a:prstGeom>
        </p:spPr>
      </p:pic>
      <p:sp>
        <p:nvSpPr>
          <p:cNvPr id="26" name="Shape 4">
            <a:extLst>
              <a:ext uri="{FF2B5EF4-FFF2-40B4-BE49-F238E27FC236}">
                <a16:creationId xmlns:a16="http://schemas.microsoft.com/office/drawing/2014/main" id="{187F5F16-9AB2-4D2A-8E5D-1A716AD93019}"/>
              </a:ext>
            </a:extLst>
          </p:cNvPr>
          <p:cNvSpPr/>
          <p:nvPr/>
        </p:nvSpPr>
        <p:spPr>
          <a:xfrm>
            <a:off x="9829800" y="1564809"/>
            <a:ext cx="2095348" cy="4461255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  <p:txBody>
          <a:bodyPr/>
          <a:lstStyle/>
          <a:p>
            <a:r>
              <a:rPr lang="pt-BR" sz="1200" dirty="0"/>
              <a:t>• Modelo em estrela com fBase como fato central e dimensões ao redor.</a:t>
            </a:r>
          </a:p>
          <a:p>
            <a:endParaRPr lang="pt-BR" sz="1200" dirty="0"/>
          </a:p>
          <a:p>
            <a:r>
              <a:rPr lang="pt-BR" sz="1200" dirty="0"/>
              <a:t>• A modelagem foi estruturada com a fBase como tabela fato, contendo vidas, receita, custo, usuários e procedimentos. As dimensões de calendário, produto, região, cidade, UF, tipo e vertical permitem analisar os indicadores por diferentes recortes do negócio.</a:t>
            </a:r>
            <a:endParaRPr lang="pt-BR" sz="111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320918AE-35C6-4E57-BC8C-23BD7AD978AF}"/>
              </a:ext>
            </a:extLst>
          </p:cNvPr>
          <p:cNvSpPr/>
          <p:nvPr/>
        </p:nvSpPr>
        <p:spPr>
          <a:xfrm>
            <a:off x="398477" y="1152143"/>
            <a:ext cx="2095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AAD"/>
                </a:solidFill>
              </a:rPr>
              <a:t>Resposta à pergunta 8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Crescimento de vidas x sinistralidade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Leitura para identificar produtos em expansão com risco assistencial elevado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pic>
        <p:nvPicPr>
          <p:cNvPr id="6" name="Image 0" descr="/mnt/data/crescimento_sinistral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653936"/>
            <a:ext cx="6035040" cy="347254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4863EE9-7FEB-485F-8AF3-7F434E33D6BD}"/>
              </a:ext>
            </a:extLst>
          </p:cNvPr>
          <p:cNvSpPr/>
          <p:nvPr/>
        </p:nvSpPr>
        <p:spPr>
          <a:xfrm>
            <a:off x="502920" y="1152143"/>
            <a:ext cx="2095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AAD"/>
                </a:solidFill>
              </a:rPr>
              <a:t>Resposta à pergunta 10</a:t>
            </a:r>
            <a:endParaRPr lang="en-US" sz="17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A9F03CA-1F28-4EC7-B5CC-EA5487755A35}"/>
              </a:ext>
            </a:extLst>
          </p:cNvPr>
          <p:cNvSpPr/>
          <p:nvPr/>
        </p:nvSpPr>
        <p:spPr>
          <a:xfrm>
            <a:off x="512064" y="1568424"/>
            <a:ext cx="10241280" cy="7471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pt-BR" sz="1400" dirty="0"/>
              <a:t>Crescimento com sinistralidade alta pode escalar risco financeiro.</a:t>
            </a:r>
            <a:br>
              <a:rPr lang="pt-BR" sz="1400" dirty="0"/>
            </a:br>
            <a:br>
              <a:rPr lang="pt-BR" sz="1400" dirty="0"/>
            </a:br>
            <a:r>
              <a:rPr lang="pt-BR" sz="1400" dirty="0"/>
              <a:t>Quando um produto cresce em vidas e já apresenta sinistralidade acima de 90%, eu investigaria se esse crescimento está trazendo risco para a carteira. Avaliaria margem, custo médio por vida, frequência de utilização, perfil regional, baixa base de vidas e recorrência do comportamento.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A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Conclusões e recomendações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Como os indicadores suportam decisões estratégicas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371600"/>
            <a:ext cx="384048" cy="384048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4932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399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B5B"/>
                </a:solidFill>
              </a:rPr>
              <a:t>Revisar produtos deficitários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39903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Priorizar produtos com sinistralidade &gt; 100% e margem negativa.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103120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31800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22677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B5B"/>
                </a:solidFill>
              </a:rPr>
              <a:t>Investigar Centro-Oeste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26771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Abrir por cidade, produto e tipo de contrato para localizar a pressão regional.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2971800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3108960"/>
            <a:ext cx="384048" cy="384048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18668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1363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B5B"/>
                </a:solidFill>
              </a:rPr>
              <a:t>Monitorar custo por vida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313639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Acompanhar variações MoM e média móvel para diferenciar tendência de ruído.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840480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3977640"/>
            <a:ext cx="384048" cy="384048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05536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08760" y="40050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B5B"/>
                </a:solidFill>
              </a:rPr>
              <a:t>Cautela com baixa 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400507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Validar recorrência e volume mínimo antes de decidir com sinistralidade alta.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4709160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60120" y="4846320"/>
            <a:ext cx="384048" cy="384048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92404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08760" y="48737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B5B"/>
                </a:solidFill>
              </a:rPr>
              <a:t>Usar contrato na precificação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487375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Coletivo x Individual ajudam a ajustar estratégia comercial e carteira.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5715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AAD"/>
                </a:solidFill>
              </a:rPr>
              <a:t>Mensagem final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06040" y="5715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</a:rPr>
              <a:t>A decisão estratégica deve combinar rentabilidade, risco assistencial, volume de vidas e tendência temporal — nunca apenas um indicador isolado.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F6B7A"/>
                </a:solidFill>
              </a:rPr>
              <a:t>Fonte: dados internos da operadora  |  Referência: Jan a Dez/2025  |  Nota: Sinistralidade = Custo Total / Receita Total × 100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1362</Words>
  <Application>Microsoft Office PowerPoint</Application>
  <PresentationFormat>Widescreen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da Carteira | Visão Executiva</dc:title>
  <dc:subject>Apresentação - Análise de Sinistralidade e Performance da Carteira</dc:subject>
  <dc:creator>OpenAI</dc:creator>
  <cp:lastModifiedBy>elton alves</cp:lastModifiedBy>
  <cp:revision>9</cp:revision>
  <dcterms:created xsi:type="dcterms:W3CDTF">2026-06-20T00:55:52Z</dcterms:created>
  <dcterms:modified xsi:type="dcterms:W3CDTF">2026-06-20T02:10:31Z</dcterms:modified>
</cp:coreProperties>
</file>